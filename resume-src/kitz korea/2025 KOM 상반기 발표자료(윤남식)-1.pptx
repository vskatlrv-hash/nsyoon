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521" r:id="rId2"/>
    <p:sldId id="52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358" autoAdjust="0"/>
  </p:normalViewPr>
  <p:slideViewPr>
    <p:cSldViewPr snapToGrid="0">
      <p:cViewPr varScale="1">
        <p:scale>
          <a:sx n="60" d="100"/>
          <a:sy n="60" d="100"/>
        </p:scale>
        <p:origin x="15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65B37-8F9B-4CD7-B6C0-3A48D7DB7886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F3D96-1583-4140-87A6-3EAEC251B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01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먼저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2024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영업성과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대해 말씀드리겠습니다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작년 저의 수주목표는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41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억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목표매출은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24.8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억이었지만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실제수주금액은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8.1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억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매출은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14.3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억으로 목표에 미치지 못하였습니다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이는 제가 담당하는 업체 중 실행안건이 많이 없던 점도 영향을 미쳤지만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볼륨이 큰 오더를 기준으로 분석해본 결과 경쟁사에 비해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높은금액으로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대부분 수주를 실패한 것이 주된 원인이었습니다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작년도 상반기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SHAHEEN (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수처리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안건은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1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등업체와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20%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차이로 수주를 실패하였으며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토크값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및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ACT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단가에서 큰 차이가 발생하였습니다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SHAHEEN(MANUAL)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저가로 입찰한 업체가 많아 당사 밸브의 금액이 상대적으로 높게 평가되었고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WHRP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경우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S&amp;W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 당사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원가이하의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금액으로 수주를 하였습니다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SK – CEC 2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단계에서는 당사가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2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등으로 선정되었지만 성도밸브와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10~20%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차이로 인해 수주를 실패하였습니다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이에 따라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2025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년에는 수주가 가능성이 있는 오더에 우선적으로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집중대응하며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내수안건의 경우 경영진과 협의하여 이익률을 더 낮게 조정하여서라도 경쟁력을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높이는대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주력할 계획입니다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F3D96-1583-4140-87A6-3EAEC251BB5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4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2025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목표에 대해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설명드리겠습니다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2025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저의 수주 및 목표는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15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억입니다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구체적으로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설명드리면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먼저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HP VALVES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통해서 수주를 확보할 예정입니다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담당자에 따르면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타 업체에 비해 당사의 빠른 대응을 만족해하고 있으며 신규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입찰건도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있지만 대부분 이전에 납품한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PJ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교체오더가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많아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빠른대응이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필수적이라고 합니다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이에 주로 요구되는 밸브에 대하여 견적단가테이블을 만들어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대응중에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또한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담당자가 한국에 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4-5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회 방문을 하고 있으며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접점기회를 높여 친분 및 고객 신뢰 관계를 강화할 예정입니다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두번째로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HEC, HDEC, SC&amp;T, SK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EPC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업무입니다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현재 예정된 대형안건으로는 남양주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열병합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O MON, FACILITY PJ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등이 있지만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올하반기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~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내년수주가 가능한 안건으로 필요에 따라 정보를 제공하며 당사에 우호적인 입장을 유지하도록 하겠습니다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마지막으로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MRO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오더입니다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이전에 납품한 밸브의 교체밸브 및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S/P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문의가 꾸준히 있어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밸브를 통하여도 수주를 확보할 예정입니다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앞서 말씀드렸듯이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가능성 있는 안건에 대하여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예량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단계부터 최적의 금액으로 입찰을 하여 당사밸브가 비싸다는 이미지를 개선하겠습니다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두번째로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거래처와 담당자와 지속적으로 소통하여 정보수집 및 영업활동을 강화하고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가능성 있는 오더에 집중하여 효율적인 영업성을 도모하겠습니다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마지막으로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미진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신규업체의 경우 재고를 우선적으로 사용하여 생산비용을 절감하고 </a:t>
            </a:r>
            <a:r>
              <a:rPr lang="ko-KR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단납기의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경쟁력을 강화할 예정입니다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감사합니다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종합적으로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수익성과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효율성을 동시에 높이는 방향으로 업무를 진행하며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더 나은 성과를 창출할 수 있도록 최선을 다하겠습니다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감사합니다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F3D96-1583-4140-87A6-3EAEC251BB5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09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4"/>
          <a:stretch>
            <a:fillRect/>
          </a:stretch>
        </p:blipFill>
        <p:spPr bwMode="auto">
          <a:xfrm>
            <a:off x="1" y="-27358"/>
            <a:ext cx="12192000" cy="6885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図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731" y="334045"/>
            <a:ext cx="1345810" cy="270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>
            <a:spLocks noChangeArrowheads="1"/>
          </p:cNvSpPr>
          <p:nvPr userDrawn="1"/>
        </p:nvSpPr>
        <p:spPr bwMode="auto">
          <a:xfrm>
            <a:off x="8495657" y="6453402"/>
            <a:ext cx="2242922" cy="20403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726" dirty="0"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32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75522" y="274640"/>
            <a:ext cx="8736970" cy="562074"/>
          </a:xfrm>
          <a:prstGeom prst="rect">
            <a:avLst/>
          </a:prstGeom>
        </p:spPr>
        <p:txBody>
          <a:bodyPr/>
          <a:lstStyle>
            <a:lvl1pPr algn="l">
              <a:defRPr sz="2177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ja-JP" altLang="en-US" dirty="0"/>
              <a:t>｜</a:t>
            </a:r>
            <a:fld id="{719BCFF9-4352-4512-97A8-BE9F066818FD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513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5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5" y="4406904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3628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635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269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90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539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317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808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44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707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719249" y="6309417"/>
            <a:ext cx="2845481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309929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881234" y="6309417"/>
            <a:ext cx="2845479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08E1D9-8381-478D-80C1-F6559A2BE36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403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1" y="1600201"/>
            <a:ext cx="5384799" cy="4525963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7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799" cy="4525963"/>
          </a:xfrm>
          <a:prstGeom prst="rect">
            <a:avLst/>
          </a:prstGeom>
        </p:spPr>
        <p:txBody>
          <a:bodyPr/>
          <a:lstStyle>
            <a:lvl1pPr>
              <a:defRPr sz="2539"/>
            </a:lvl1pPr>
            <a:lvl2pPr>
              <a:defRPr sz="2177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8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621002" y="6237425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176460" y="6237425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0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749620" y="6237425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46C599-E928-419E-9A90-6FA82B543A13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980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2" y="1535115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7" b="1"/>
            </a:lvl1pPr>
            <a:lvl2pPr marL="414635" indent="0">
              <a:buNone/>
              <a:defRPr sz="1814" b="1"/>
            </a:lvl2pPr>
            <a:lvl3pPr marL="829269" indent="0">
              <a:buNone/>
              <a:defRPr sz="1632" b="1"/>
            </a:lvl3pPr>
            <a:lvl4pPr marL="1243904" indent="0">
              <a:buNone/>
              <a:defRPr sz="1451" b="1"/>
            </a:lvl4pPr>
            <a:lvl5pPr marL="1658539" indent="0">
              <a:buNone/>
              <a:defRPr sz="1451" b="1"/>
            </a:lvl5pPr>
            <a:lvl6pPr marL="2073173" indent="0">
              <a:buNone/>
              <a:defRPr sz="1451" b="1"/>
            </a:lvl6pPr>
            <a:lvl7pPr marL="2487808" indent="0">
              <a:buNone/>
              <a:defRPr sz="1451" b="1"/>
            </a:lvl7pPr>
            <a:lvl8pPr marL="2902443" indent="0">
              <a:buNone/>
              <a:defRPr sz="1451" b="1"/>
            </a:lvl8pPr>
            <a:lvl9pPr marL="3317077" indent="0">
              <a:buNone/>
              <a:defRPr sz="145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177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71" y="1535115"/>
            <a:ext cx="538903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77" b="1"/>
            </a:lvl1pPr>
            <a:lvl2pPr marL="414635" indent="0">
              <a:buNone/>
              <a:defRPr sz="1814" b="1"/>
            </a:lvl2pPr>
            <a:lvl3pPr marL="829269" indent="0">
              <a:buNone/>
              <a:defRPr sz="1632" b="1"/>
            </a:lvl3pPr>
            <a:lvl4pPr marL="1243904" indent="0">
              <a:buNone/>
              <a:defRPr sz="1451" b="1"/>
            </a:lvl4pPr>
            <a:lvl5pPr marL="1658539" indent="0">
              <a:buNone/>
              <a:defRPr sz="1451" b="1"/>
            </a:lvl5pPr>
            <a:lvl6pPr marL="2073173" indent="0">
              <a:buNone/>
              <a:defRPr sz="1451" b="1"/>
            </a:lvl6pPr>
            <a:lvl7pPr marL="2487808" indent="0">
              <a:buNone/>
              <a:defRPr sz="1451" b="1"/>
            </a:lvl7pPr>
            <a:lvl8pPr marL="2902443" indent="0">
              <a:buNone/>
              <a:defRPr sz="1451" b="1"/>
            </a:lvl8pPr>
            <a:lvl9pPr marL="3317077" indent="0">
              <a:buNone/>
              <a:defRPr sz="1451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71" y="2174875"/>
            <a:ext cx="5389032" cy="3951288"/>
          </a:xfrm>
          <a:prstGeom prst="rect">
            <a:avLst/>
          </a:prstGeom>
        </p:spPr>
        <p:txBody>
          <a:bodyPr/>
          <a:lstStyle>
            <a:lvl1pPr>
              <a:defRPr sz="2177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1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2" name="スライド番号プレースホルダー 8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074622-9B65-42A4-96EA-A68D9EDF5CF2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186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4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7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88DF82-F845-4A06-8DF7-11E93ED6A297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82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5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6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5ADB4-1B0E-4175-A273-1E2E61D7B99E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44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8" cy="5853113"/>
          </a:xfrm>
          <a:prstGeom prst="rect">
            <a:avLst/>
          </a:prstGeo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7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0"/>
            </a:lvl1pPr>
            <a:lvl2pPr marL="414635" indent="0">
              <a:buNone/>
              <a:defRPr sz="1088"/>
            </a:lvl2pPr>
            <a:lvl3pPr marL="829269" indent="0">
              <a:buNone/>
              <a:defRPr sz="907"/>
            </a:lvl3pPr>
            <a:lvl4pPr marL="1243904" indent="0">
              <a:buNone/>
              <a:defRPr sz="816"/>
            </a:lvl4pPr>
            <a:lvl5pPr marL="1658539" indent="0">
              <a:buNone/>
              <a:defRPr sz="816"/>
            </a:lvl5pPr>
            <a:lvl6pPr marL="2073173" indent="0">
              <a:buNone/>
              <a:defRPr sz="816"/>
            </a:lvl6pPr>
            <a:lvl7pPr marL="2487808" indent="0">
              <a:buNone/>
              <a:defRPr sz="816"/>
            </a:lvl7pPr>
            <a:lvl8pPr marL="2902443" indent="0">
              <a:buNone/>
              <a:defRPr sz="816"/>
            </a:lvl8pPr>
            <a:lvl9pPr marL="3317077" indent="0">
              <a:buNone/>
              <a:defRPr sz="81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715542" y="6309417"/>
            <a:ext cx="2845481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272856" y="6309417"/>
            <a:ext cx="3859471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0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844159" y="6309417"/>
            <a:ext cx="2845479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50A97-076F-4E06-8EDA-028BE0643266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859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02"/>
            </a:lvl1pPr>
            <a:lvl2pPr marL="414635" indent="0">
              <a:buNone/>
              <a:defRPr sz="2539"/>
            </a:lvl2pPr>
            <a:lvl3pPr marL="829269" indent="0">
              <a:buNone/>
              <a:defRPr sz="2177"/>
            </a:lvl3pPr>
            <a:lvl4pPr marL="1243904" indent="0">
              <a:buNone/>
              <a:defRPr sz="1814"/>
            </a:lvl4pPr>
            <a:lvl5pPr marL="1658539" indent="0">
              <a:buNone/>
              <a:defRPr sz="1814"/>
            </a:lvl5pPr>
            <a:lvl6pPr marL="2073173" indent="0">
              <a:buNone/>
              <a:defRPr sz="1814"/>
            </a:lvl6pPr>
            <a:lvl7pPr marL="2487808" indent="0">
              <a:buNone/>
              <a:defRPr sz="1814"/>
            </a:lvl7pPr>
            <a:lvl8pPr marL="2902443" indent="0">
              <a:buNone/>
              <a:defRPr sz="1814"/>
            </a:lvl8pPr>
            <a:lvl9pPr marL="3317077" indent="0">
              <a:buNone/>
              <a:defRPr sz="1814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70"/>
            </a:lvl1pPr>
            <a:lvl2pPr marL="414635" indent="0">
              <a:buNone/>
              <a:defRPr sz="1088"/>
            </a:lvl2pPr>
            <a:lvl3pPr marL="829269" indent="0">
              <a:buNone/>
              <a:defRPr sz="907"/>
            </a:lvl3pPr>
            <a:lvl4pPr marL="1243904" indent="0">
              <a:buNone/>
              <a:defRPr sz="816"/>
            </a:lvl4pPr>
            <a:lvl5pPr marL="1658539" indent="0">
              <a:buNone/>
              <a:defRPr sz="816"/>
            </a:lvl5pPr>
            <a:lvl6pPr marL="2073173" indent="0">
              <a:buNone/>
              <a:defRPr sz="816"/>
            </a:lvl6pPr>
            <a:lvl7pPr marL="2487808" indent="0">
              <a:buNone/>
              <a:defRPr sz="816"/>
            </a:lvl7pPr>
            <a:lvl8pPr marL="2902443" indent="0">
              <a:buNone/>
              <a:defRPr sz="816"/>
            </a:lvl8pPr>
            <a:lvl9pPr marL="3317077" indent="0">
              <a:buNone/>
              <a:defRPr sz="81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522755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078214" y="6309417"/>
            <a:ext cx="38613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10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649517" y="6309417"/>
            <a:ext cx="2845481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9E4EFF-D844-4788-9624-184C33DC21AC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781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5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464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621002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176460" y="6309417"/>
            <a:ext cx="3861324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749620" y="6309417"/>
            <a:ext cx="2843625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22B2F-CDF7-4133-8908-0F2449D44E0E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5650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図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372" y="371483"/>
            <a:ext cx="1151168" cy="233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ボックス 5"/>
          <p:cNvSpPr txBox="1">
            <a:spLocks noChangeArrowheads="1"/>
          </p:cNvSpPr>
          <p:nvPr userDrawn="1"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199" y="274640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399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522755" y="6309417"/>
            <a:ext cx="28436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78214" y="6309417"/>
            <a:ext cx="3861325" cy="364282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49517" y="6309417"/>
            <a:ext cx="2845481" cy="3642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9E1D57-9DF9-437F-868A-DAD6380A61FD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2981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ja-JP" altLang="en-US" dirty="0"/>
              <a:t>｜</a:t>
            </a:r>
            <a:fld id="{E038A514-1CF3-40F2-AC6C-EE32301A3475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112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図 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" y="14399"/>
            <a:ext cx="12191999" cy="95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896243" y="6381409"/>
            <a:ext cx="863839" cy="31244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998">
                <a:solidFill>
                  <a:srgbClr val="7F7F7F"/>
                </a:solidFill>
                <a:ea typeface="ＭＳ Ｐゴシック" charset="-128"/>
              </a:defRPr>
            </a:lvl1pPr>
          </a:lstStyle>
          <a:p>
            <a:pPr>
              <a:defRPr/>
            </a:pPr>
            <a:r>
              <a:rPr lang="ja-JP" altLang="en-US" dirty="0"/>
              <a:t>｜</a:t>
            </a:r>
            <a:fld id="{4DE4EDE5-40CC-4EC5-80B5-98639E859A4F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  <p:pic>
        <p:nvPicPr>
          <p:cNvPr id="1028" name="図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913" y="476590"/>
            <a:ext cx="1343956" cy="270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テキスト ボックス 23"/>
          <p:cNvSpPr txBox="1">
            <a:spLocks noChangeArrowheads="1"/>
          </p:cNvSpPr>
          <p:nvPr/>
        </p:nvSpPr>
        <p:spPr bwMode="auto">
          <a:xfrm>
            <a:off x="9551607" y="6411648"/>
            <a:ext cx="1728358" cy="17607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544" dirty="0">
                <a:solidFill>
                  <a:schemeClr val="bg1">
                    <a:lumMod val="50000"/>
                  </a:schemeClr>
                </a:solidFill>
                <a:latin typeface="Helvetica" pitchFamily="34" charset="0"/>
                <a:cs typeface="Helvetica" pitchFamily="34" charset="0"/>
              </a:rPr>
              <a:t>©2013 KITZ CORPORATION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0183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99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14635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829269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243904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658539" algn="ctr" rtl="0" fontAlgn="base">
        <a:spcBef>
          <a:spcPct val="0"/>
        </a:spcBef>
        <a:spcAft>
          <a:spcPct val="0"/>
        </a:spcAft>
        <a:defRPr kumimoji="1" sz="399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10976" indent="-3109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81" indent="-25914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587" indent="-20731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177" kern="1200">
          <a:solidFill>
            <a:schemeClr val="tx1"/>
          </a:solidFill>
          <a:latin typeface="+mn-lt"/>
          <a:ea typeface="+mn-ea"/>
          <a:cs typeface="+mn-cs"/>
        </a:defRPr>
      </a:lvl3pPr>
      <a:lvl4pPr marL="1451221" indent="-20731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856" indent="-207317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491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5125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760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395" indent="-207317" algn="l" defTabSz="829269" rtl="0" eaLnBrk="1" latinLnBrk="0" hangingPunct="1">
        <a:spcBef>
          <a:spcPct val="20000"/>
        </a:spcBef>
        <a:buFont typeface="Arial" pitchFamily="34" charset="0"/>
        <a:buChar char="•"/>
        <a:defRPr kumimoji="1"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635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269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904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539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3173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808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443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7077" algn="l" defTabSz="829269" rtl="0" eaLnBrk="1" latinLnBrk="0" hangingPunct="1">
        <a:defRPr kumimoji="1"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D4448-9777-FCFA-EDAF-CD181169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4806"/>
            <a:ext cx="10972800" cy="1142941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부산 영업부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(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윤남식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)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 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2024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년 활동 보고</a:t>
            </a:r>
            <a:endParaRPr lang="ko-KR" altLang="en-US" dirty="0">
              <a:effectLst>
                <a:outerShdw blurRad="50800" dist="50800" dir="5400000" algn="ctr" rotWithShape="0">
                  <a:schemeClr val="accent3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1DF43-4B48-AD25-3C6C-5189A676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9620" y="6309267"/>
            <a:ext cx="2843625" cy="364263"/>
          </a:xfrm>
        </p:spPr>
        <p:txBody>
          <a:bodyPr wrap="square" anchor="t">
            <a:normAutofit/>
          </a:bodyPr>
          <a:lstStyle/>
          <a:p>
            <a:pPr defTabSz="829269" fontAlgn="base" latinLnBrk="0">
              <a:spcBef>
                <a:spcPct val="0"/>
              </a:spcBef>
              <a:spcAft>
                <a:spcPts val="544"/>
              </a:spcAft>
              <a:defRPr/>
            </a:pPr>
            <a:r>
              <a:rPr kumimoji="1" lang="ja-JP" altLang="en-US">
                <a:latin typeface="Calibri" pitchFamily="34" charset="0"/>
              </a:rPr>
              <a:t>｜</a:t>
            </a:r>
            <a:fld id="{719BCFF9-4352-4512-97A8-BE9F066818FD}" type="slidenum">
              <a:rPr kumimoji="1" lang="ja-JP" altLang="en-US">
                <a:latin typeface="Calibri" pitchFamily="34" charset="0"/>
              </a:rPr>
              <a:pPr defTabSz="829269" fontAlgn="base" latinLnBrk="0">
                <a:spcBef>
                  <a:spcPct val="0"/>
                </a:spcBef>
                <a:spcAft>
                  <a:spcPts val="544"/>
                </a:spcAft>
                <a:defRPr/>
              </a:pPr>
              <a:t>1</a:t>
            </a:fld>
            <a:endParaRPr kumimoji="1" lang="ja-JP" altLang="en-US">
              <a:latin typeface="Calibri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05772D-7CBC-6287-C8AF-3A77397B8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837928"/>
              </p:ext>
            </p:extLst>
          </p:nvPr>
        </p:nvGraphicFramePr>
        <p:xfrm>
          <a:off x="2857500" y="1417747"/>
          <a:ext cx="6134100" cy="255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45143873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33686934"/>
                    </a:ext>
                  </a:extLst>
                </a:gridCol>
                <a:gridCol w="3314701">
                  <a:extLst>
                    <a:ext uri="{9D8B030D-6E8A-4147-A177-3AD203B41FA5}">
                      <a16:colId xmlns:a16="http://schemas.microsoft.com/office/drawing/2014/main" val="3263075305"/>
                    </a:ext>
                  </a:extLst>
                </a:gridCol>
              </a:tblGrid>
              <a:tr h="3028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  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수주활동현황</a:t>
                      </a:r>
                      <a:endParaRPr lang="en-US" altLang="ko-KR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043908"/>
                  </a:ext>
                </a:extLst>
              </a:tr>
              <a:tr h="5047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금화정수 </a:t>
                      </a:r>
                      <a:endParaRPr lang="en-US" altLang="ko-KR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SHAHEEN PJ</a:t>
                      </a:r>
                    </a:p>
                    <a:p>
                      <a:pPr algn="ctr" latinLnBrk="1"/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수처리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경쟁업체와 금액 </a:t>
                      </a:r>
                      <a:r>
                        <a:rPr lang="en-US" altLang="ko-KR" sz="1300"/>
                        <a:t>20</a:t>
                      </a:r>
                      <a:r>
                        <a:rPr lang="en-US" altLang="ko-KR" sz="1300" dirty="0"/>
                        <a:t>% </a:t>
                      </a:r>
                      <a:r>
                        <a:rPr lang="ko-KR" altLang="en-US" sz="1300" dirty="0"/>
                        <a:t>차이 수주실패</a:t>
                      </a:r>
                      <a:r>
                        <a:rPr lang="en-US" altLang="ko-KR" sz="1300" dirty="0"/>
                        <a:t>(3</a:t>
                      </a:r>
                      <a:r>
                        <a:rPr lang="ko-KR" altLang="en-US" sz="1300" dirty="0"/>
                        <a:t>등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30358"/>
                  </a:ext>
                </a:extLst>
              </a:tr>
              <a:tr h="719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HEC</a:t>
                      </a:r>
                    </a:p>
                    <a:p>
                      <a:pPr algn="ctr" latinLnBrk="1"/>
                      <a:r>
                        <a:rPr lang="en-US" altLang="ko-KR" sz="1300" dirty="0"/>
                        <a:t> TOYO</a:t>
                      </a:r>
                    </a:p>
                    <a:p>
                      <a:pPr algn="ctr" latinLnBrk="1"/>
                      <a:r>
                        <a:rPr lang="en-US" altLang="ko-KR" sz="1300" dirty="0"/>
                        <a:t>DL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E&amp;C,</a:t>
                      </a:r>
                      <a:r>
                        <a:rPr lang="ko-KR" altLang="en-US" sz="1300" dirty="0"/>
                        <a:t> </a:t>
                      </a:r>
                      <a:endParaRPr lang="en-US" altLang="ko-KR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SHAHEEN PJ</a:t>
                      </a:r>
                    </a:p>
                    <a:p>
                      <a:pPr algn="ctr" latinLnBrk="1"/>
                      <a:r>
                        <a:rPr lang="en-US" altLang="ko-KR" sz="1300" dirty="0"/>
                        <a:t>(MANUAL)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경쟁업체대비 금액이 상당히 비쌈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972963"/>
                  </a:ext>
                </a:extLst>
              </a:tr>
              <a:tr h="504791">
                <a:tc>
                  <a:txBody>
                    <a:bodyPr/>
                    <a:lstStyle/>
                    <a:p>
                      <a:pPr marL="0" algn="ctr" defTabSz="829269" rtl="0" eaLnBrk="1" latinLnBrk="1" hangingPunct="1"/>
                      <a:r>
                        <a:rPr kumimoji="1" lang="ko-KR" altLang="en-US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삼성</a:t>
                      </a:r>
                      <a:r>
                        <a:rPr kumimoji="1" lang="en-US" altLang="ko-K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WHRP PJ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경쟁업체와 금액 </a:t>
                      </a:r>
                      <a:r>
                        <a:rPr lang="en-US" altLang="ko-KR" sz="1300" dirty="0"/>
                        <a:t>50% </a:t>
                      </a:r>
                      <a:r>
                        <a:rPr lang="ko-KR" altLang="en-US" sz="1300" dirty="0"/>
                        <a:t>차이 수주실패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78751"/>
                  </a:ext>
                </a:extLst>
              </a:tr>
              <a:tr h="5047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CEC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단계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경쟁업체와 금액 </a:t>
                      </a:r>
                      <a:r>
                        <a:rPr lang="en-US" altLang="ko-KR" sz="1300" dirty="0"/>
                        <a:t>20% </a:t>
                      </a:r>
                      <a:r>
                        <a:rPr lang="ko-KR" altLang="en-US" sz="1300" dirty="0"/>
                        <a:t>차이 수주실패</a:t>
                      </a:r>
                      <a:r>
                        <a:rPr lang="en-US" altLang="ko-KR" sz="1300" dirty="0"/>
                        <a:t>(2</a:t>
                      </a:r>
                      <a:r>
                        <a:rPr lang="ko-KR" altLang="en-US" sz="1300" dirty="0"/>
                        <a:t>등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1106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35612D9-3125-8E3A-CB31-422992E11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12168"/>
              </p:ext>
            </p:extLst>
          </p:nvPr>
        </p:nvGraphicFramePr>
        <p:xfrm>
          <a:off x="447676" y="1690357"/>
          <a:ext cx="2247899" cy="1405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899">
                  <a:extLst>
                    <a:ext uri="{9D8B030D-6E8A-4147-A177-3AD203B41FA5}">
                      <a16:colId xmlns:a16="http://schemas.microsoft.com/office/drawing/2014/main" val="3178211823"/>
                    </a:ext>
                  </a:extLst>
                </a:gridCol>
              </a:tblGrid>
              <a:tr h="4139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수주 및 매출내역</a:t>
                      </a:r>
                      <a:r>
                        <a:rPr lang="en-US" altLang="ko-KR" sz="1400" b="1" dirty="0"/>
                        <a:t>(2024)</a:t>
                      </a:r>
                      <a:endParaRPr lang="ko-KR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54370"/>
                  </a:ext>
                </a:extLst>
              </a:tr>
              <a:tr h="991698">
                <a:tc>
                  <a:txBody>
                    <a:bodyPr/>
                    <a:lstStyle/>
                    <a:p>
                      <a:pPr marL="0" indent="0" algn="ctr" latinLnBrk="1">
                        <a:buFont typeface="+mj-ea"/>
                        <a:buNone/>
                      </a:pPr>
                      <a:endParaRPr lang="en-US" altLang="ko-KR" sz="1400" b="0" dirty="0"/>
                    </a:p>
                    <a:p>
                      <a:pPr marL="0" indent="0" algn="ctr" latinLnBrk="1">
                        <a:buFont typeface="+mj-ea"/>
                        <a:buNone/>
                      </a:pPr>
                      <a:r>
                        <a:rPr lang="ko-KR" altLang="en-US" sz="1400" b="0" dirty="0"/>
                        <a:t>수주내역 </a:t>
                      </a:r>
                      <a:r>
                        <a:rPr lang="en-US" altLang="ko-KR" sz="1400" b="0" dirty="0"/>
                        <a:t>: 8.11</a:t>
                      </a:r>
                      <a:r>
                        <a:rPr lang="ko-KR" altLang="en-US" sz="1400" b="0" dirty="0"/>
                        <a:t>억</a:t>
                      </a:r>
                      <a:endParaRPr lang="en-US" altLang="ko-KR" sz="1400" b="0" dirty="0"/>
                    </a:p>
                    <a:p>
                      <a:pPr marL="0" indent="0" algn="ctr" latinLnBrk="1">
                        <a:buFont typeface="+mj-ea"/>
                        <a:buNone/>
                      </a:pPr>
                      <a:r>
                        <a:rPr lang="ko-KR" altLang="en-US" sz="1400" b="0" dirty="0"/>
                        <a:t>매출내역 </a:t>
                      </a:r>
                      <a:r>
                        <a:rPr lang="en-US" altLang="ko-KR" sz="1400" b="0" dirty="0"/>
                        <a:t>: 14.33</a:t>
                      </a:r>
                      <a:r>
                        <a:rPr lang="ko-KR" altLang="en-US" sz="1400" b="0" dirty="0"/>
                        <a:t>억</a:t>
                      </a:r>
                      <a:endParaRPr lang="en-US" altLang="ko-KR" sz="1400" b="0" dirty="0"/>
                    </a:p>
                    <a:p>
                      <a:pPr algn="ctr" latinLnBrk="1"/>
                      <a:r>
                        <a:rPr lang="en-US" altLang="ko-KR" sz="1400" b="1" dirty="0"/>
                        <a:t> 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154764"/>
                  </a:ext>
                </a:extLst>
              </a:tr>
            </a:tbl>
          </a:graphicData>
        </a:graphic>
      </p:graphicFrame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66D2E765-EC70-3E36-2301-B8AA09F68812}"/>
              </a:ext>
            </a:extLst>
          </p:cNvPr>
          <p:cNvSpPr/>
          <p:nvPr/>
        </p:nvSpPr>
        <p:spPr>
          <a:xfrm>
            <a:off x="9090341" y="2428558"/>
            <a:ext cx="361950" cy="2860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C923504-F06B-FEA5-D51E-8B623B193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98929"/>
              </p:ext>
            </p:extLst>
          </p:nvPr>
        </p:nvGraphicFramePr>
        <p:xfrm>
          <a:off x="9551032" y="1714102"/>
          <a:ext cx="2345692" cy="141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5692">
                  <a:extLst>
                    <a:ext uri="{9D8B030D-6E8A-4147-A177-3AD203B41FA5}">
                      <a16:colId xmlns:a16="http://schemas.microsoft.com/office/drawing/2014/main" val="3060255967"/>
                    </a:ext>
                  </a:extLst>
                </a:gridCol>
              </a:tblGrid>
              <a:tr h="400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실패원인분석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873301"/>
                  </a:ext>
                </a:extLst>
              </a:tr>
              <a:tr h="1010006"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내수안건의 경우</a:t>
                      </a:r>
                      <a:r>
                        <a:rPr lang="en-US" altLang="ko-KR" sz="1300" dirty="0"/>
                        <a:t>,</a:t>
                      </a:r>
                    </a:p>
                    <a:p>
                      <a:r>
                        <a:rPr lang="ko-KR" altLang="en-US" sz="1300" dirty="0"/>
                        <a:t>저가 입찰업체가 많아 </a:t>
                      </a:r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MV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/0.8 </a:t>
                      </a:r>
                      <a:r>
                        <a:rPr lang="ko-KR" altLang="en-US" sz="1300" dirty="0"/>
                        <a:t>수주가 힘든 상황</a:t>
                      </a:r>
                      <a:endParaRPr lang="en-US" altLang="ko-KR" sz="1300" dirty="0"/>
                    </a:p>
                    <a:p>
                      <a:pPr marL="0" marR="0" lvl="0" indent="0" algn="l" defTabSz="8292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-&gt; </a:t>
                      </a:r>
                      <a:r>
                        <a:rPr lang="ko-KR" altLang="en-US" sz="1200" b="1" dirty="0"/>
                        <a:t>수주가능성 있는 오더에 집중</a:t>
                      </a:r>
                      <a:r>
                        <a:rPr lang="en-US" altLang="ko-KR" sz="1400" b="1" dirty="0"/>
                        <a:t> 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106116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4EE3A73B-0C89-1304-4999-6CBB1BFD7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3899143"/>
            <a:ext cx="11801475" cy="198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7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D4448-9777-FCFA-EDAF-CD181169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4807"/>
            <a:ext cx="10972800" cy="811044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부산 영업부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(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윤남식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)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 </a:t>
            </a:r>
            <a:r>
              <a:rPr lang="en-US" altLang="ko-KR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2025</a:t>
            </a:r>
            <a:r>
              <a:rPr lang="ko-KR" altLang="en-US" sz="3600" b="1" dirty="0">
                <a:effectLst>
                  <a:outerShdw blurRad="50800" dist="50800" dir="5400000" algn="ctr" rotWithShape="0">
                    <a:schemeClr val="accent3">
                      <a:lumMod val="40000"/>
                      <a:lumOff val="60000"/>
                    </a:schemeClr>
                  </a:outerShdw>
                </a:effectLst>
                <a:latin typeface="+mn-ea"/>
              </a:rPr>
              <a:t>년 활동 예정</a:t>
            </a:r>
            <a:endParaRPr lang="ko-KR" altLang="en-US" sz="3600" dirty="0">
              <a:effectLst>
                <a:outerShdw blurRad="50800" dist="50800" dir="5400000" algn="ctr" rotWithShape="0">
                  <a:schemeClr val="accent3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1DF43-4B48-AD25-3C6C-5189A676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9620" y="6309267"/>
            <a:ext cx="2843625" cy="364263"/>
          </a:xfrm>
        </p:spPr>
        <p:txBody>
          <a:bodyPr wrap="square" anchor="t">
            <a:normAutofit/>
          </a:bodyPr>
          <a:lstStyle/>
          <a:p>
            <a:pPr defTabSz="829269" fontAlgn="base" latinLnBrk="0">
              <a:spcBef>
                <a:spcPct val="0"/>
              </a:spcBef>
              <a:spcAft>
                <a:spcPts val="544"/>
              </a:spcAft>
              <a:defRPr/>
            </a:pPr>
            <a:r>
              <a:rPr kumimoji="1" lang="ja-JP" altLang="en-US">
                <a:latin typeface="Calibri" pitchFamily="34" charset="0"/>
              </a:rPr>
              <a:t>｜</a:t>
            </a:r>
            <a:fld id="{719BCFF9-4352-4512-97A8-BE9F066818FD}" type="slidenum">
              <a:rPr kumimoji="1" lang="ja-JP" altLang="en-US">
                <a:latin typeface="Calibri" pitchFamily="34" charset="0"/>
              </a:rPr>
              <a:pPr defTabSz="829269" fontAlgn="base" latinLnBrk="0">
                <a:spcBef>
                  <a:spcPct val="0"/>
                </a:spcBef>
                <a:spcAft>
                  <a:spcPts val="544"/>
                </a:spcAft>
                <a:defRPr/>
              </a:pPr>
              <a:t>2</a:t>
            </a:fld>
            <a:endParaRPr kumimoji="1" lang="ja-JP" altLang="en-US">
              <a:latin typeface="Calibri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43E651-4CFD-3488-0029-D0E76AF4E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189641"/>
              </p:ext>
            </p:extLst>
          </p:nvPr>
        </p:nvGraphicFramePr>
        <p:xfrm>
          <a:off x="2857500" y="1424021"/>
          <a:ext cx="8735745" cy="2664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004">
                  <a:extLst>
                    <a:ext uri="{9D8B030D-6E8A-4147-A177-3AD203B41FA5}">
                      <a16:colId xmlns:a16="http://schemas.microsoft.com/office/drawing/2014/main" val="3178211823"/>
                    </a:ext>
                  </a:extLst>
                </a:gridCol>
                <a:gridCol w="6847741">
                  <a:extLst>
                    <a:ext uri="{9D8B030D-6E8A-4147-A177-3AD203B41FA5}">
                      <a16:colId xmlns:a16="http://schemas.microsoft.com/office/drawing/2014/main" val="3356555557"/>
                    </a:ext>
                  </a:extLst>
                </a:gridCol>
              </a:tblGrid>
              <a:tr h="3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                                   진행 </a:t>
                      </a:r>
                      <a:r>
                        <a:rPr lang="en-US" altLang="ko-KR" sz="1800" dirty="0"/>
                        <a:t>PJ</a:t>
                      </a:r>
                      <a:r>
                        <a:rPr lang="ko-KR" altLang="en-US" sz="1800" dirty="0"/>
                        <a:t> 및 활동계획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54370"/>
                  </a:ext>
                </a:extLst>
              </a:tr>
              <a:tr h="679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HP VALVES</a:t>
                      </a:r>
                      <a:endParaRPr lang="ko-KR" altLang="en-US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ea"/>
                        <a:buNone/>
                      </a:pP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 NV ENERGY, RABIGH, NAUGHTON STATION PJ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등</a:t>
                      </a:r>
                      <a:endParaRPr lang="en-US" altLang="ko-KR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indent="0" algn="l" latinLnBrk="1">
                        <a:buFont typeface="+mj-ea"/>
                        <a:buNone/>
                      </a:pP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-&gt;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견적단가테이블 만들어 신속한 대응을 통해 고객신뢰도 강화</a:t>
                      </a:r>
                      <a:endParaRPr lang="en-US" altLang="ko-KR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11205"/>
                  </a:ext>
                </a:extLst>
              </a:tr>
              <a:tr h="803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EPC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(HEC, HDEC, SC&amp;T, 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DL E&amp;C, SK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등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대형입찰안건 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– </a:t>
                      </a:r>
                      <a:r>
                        <a:rPr lang="ko-KR" altLang="en-US" sz="1500" dirty="0" err="1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남양주열병합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O MON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PJ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등</a:t>
                      </a:r>
                      <a:endParaRPr lang="en-US" altLang="ko-KR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HEC – TGPF4 PJT(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수주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), KGP PJ(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수주가능성↑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), P2E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PJ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등</a:t>
                      </a:r>
                      <a:endParaRPr lang="en-US" altLang="ko-KR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342900" indent="-342900" algn="l" latinLnBrk="1">
                        <a:buFont typeface="+mj-ea"/>
                        <a:buAutoNum type="circleNumDbPlain"/>
                      </a:pP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SC&amp;T – FACILITY E PJ(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수주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), SEC PJ, UAE FAST TRACK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등 </a:t>
                      </a:r>
                      <a:endParaRPr lang="en-US" altLang="ko-KR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154764"/>
                  </a:ext>
                </a:extLst>
              </a:tr>
              <a:tr h="803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MRO</a:t>
                      </a:r>
                      <a:endParaRPr lang="ko-KR" altLang="en-US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latinLnBrk="1">
                        <a:buFont typeface="+mj-ea"/>
                        <a:buAutoNum type="circleNumDbPlain"/>
                      </a:pP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교체밸브 및 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S/P(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내수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) – OCI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군산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한화에너지 등 </a:t>
                      </a:r>
                      <a:r>
                        <a:rPr lang="ko-KR" altLang="en-US" sz="1500" dirty="0" err="1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기납품된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 밸브             교체 및 수리</a:t>
                      </a:r>
                      <a:endParaRPr lang="en-US" altLang="ko-KR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342900" indent="-342900" latinLnBrk="1">
                        <a:buFont typeface="+mj-ea"/>
                        <a:buAutoNum type="circleNumDbPlain"/>
                      </a:pP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교체밸브 </a:t>
                      </a:r>
                      <a:r>
                        <a:rPr kumimoji="1" lang="ko-KR" altLang="en-US" sz="15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및 </a:t>
                      </a:r>
                      <a:r>
                        <a:rPr kumimoji="1" lang="en-US" altLang="ko-KR" sz="15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S/P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수출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) –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제일밸브</a:t>
                      </a:r>
                      <a:r>
                        <a:rPr lang="en-US" altLang="ko-KR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, W/S </a:t>
                      </a:r>
                      <a:r>
                        <a:rPr lang="ko-KR" altLang="en-US" sz="1500" dirty="0"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등 </a:t>
                      </a:r>
                      <a:endParaRPr lang="en-US" altLang="ko-KR" sz="1500" dirty="0"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441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1A93CE-9933-DB06-E630-68CECD6813FF}"/>
              </a:ext>
            </a:extLst>
          </p:cNvPr>
          <p:cNvSpPr txBox="1"/>
          <p:nvPr/>
        </p:nvSpPr>
        <p:spPr>
          <a:xfrm>
            <a:off x="1226527" y="4308084"/>
            <a:ext cx="91908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1) </a:t>
            </a:r>
            <a:r>
              <a:rPr lang="ko-KR" altLang="en-US" sz="1500" b="1" dirty="0"/>
              <a:t>타 부서 협력 및 최적화된 입찰 준비</a:t>
            </a:r>
            <a:endParaRPr lang="en-US" altLang="ko-KR" sz="1500" b="1" dirty="0"/>
          </a:p>
          <a:p>
            <a:r>
              <a:rPr lang="en-US" altLang="ko-KR" sz="1500" dirty="0"/>
              <a:t>-&gt; </a:t>
            </a:r>
            <a:r>
              <a:rPr lang="ko-KR" altLang="en-US" sz="1500" dirty="0"/>
              <a:t>중량</a:t>
            </a:r>
            <a:r>
              <a:rPr lang="en-US" altLang="ko-KR" sz="1500" dirty="0"/>
              <a:t>, </a:t>
            </a:r>
            <a:r>
              <a:rPr lang="ko-KR" altLang="en-US" sz="1500" dirty="0"/>
              <a:t>원가 등 타 부서와 협조하여 </a:t>
            </a:r>
            <a:r>
              <a:rPr lang="ko-KR" altLang="en-US" sz="1500" dirty="0" err="1"/>
              <a:t>예량</a:t>
            </a:r>
            <a:r>
              <a:rPr lang="ko-KR" altLang="en-US" sz="1500" dirty="0"/>
              <a:t> 견적에도 최적의 금액으로 입찰예정</a:t>
            </a:r>
            <a:endParaRPr lang="en-US" altLang="ko-KR" sz="1500" dirty="0"/>
          </a:p>
          <a:p>
            <a:r>
              <a:rPr lang="en-US" altLang="ko-KR" sz="1500" b="1" dirty="0"/>
              <a:t>2) </a:t>
            </a:r>
            <a:r>
              <a:rPr lang="ko-KR" altLang="en-US" sz="1500" b="1" dirty="0"/>
              <a:t>거래처와 지속적인 소통 및 정보수집</a:t>
            </a:r>
            <a:endParaRPr lang="en-US" altLang="ko-KR" sz="1500" b="1" dirty="0"/>
          </a:p>
          <a:p>
            <a:r>
              <a:rPr lang="en-US" altLang="ko-KR" sz="1500" dirty="0"/>
              <a:t>-&gt; </a:t>
            </a:r>
            <a:r>
              <a:rPr lang="ko-KR" altLang="en-US" sz="1500" dirty="0"/>
              <a:t>각 거래처 담당자와 지속적으로 소통하여 정보수집 및 영업활동</a:t>
            </a:r>
            <a:endParaRPr lang="en-US" altLang="ko-KR" sz="1500" dirty="0"/>
          </a:p>
          <a:p>
            <a:r>
              <a:rPr lang="en-US" altLang="ko-KR" sz="1500" b="1" dirty="0"/>
              <a:t>3) </a:t>
            </a:r>
            <a:r>
              <a:rPr lang="ko-KR" altLang="en-US" sz="1500" b="1" dirty="0"/>
              <a:t>효율적인 자원 분배 및 집중 전략</a:t>
            </a:r>
            <a:endParaRPr lang="en-US" altLang="ko-KR" sz="1500" b="1" dirty="0"/>
          </a:p>
          <a:p>
            <a:r>
              <a:rPr lang="en-US" altLang="ko-KR" sz="1500" dirty="0"/>
              <a:t>-&gt;</a:t>
            </a:r>
            <a:r>
              <a:rPr lang="ko-KR" altLang="en-US" sz="1500" dirty="0"/>
              <a:t>가능성이 없는 오더의 경우 과감히 포기하여</a:t>
            </a:r>
            <a:r>
              <a:rPr lang="en-US" altLang="ko-KR" sz="1500" dirty="0"/>
              <a:t>, </a:t>
            </a:r>
            <a:r>
              <a:rPr lang="ko-KR" altLang="en-US" sz="1500" dirty="0"/>
              <a:t>수주가능성이 있는 오더에 집중하여 효율적인 영업성과 도모</a:t>
            </a:r>
            <a:endParaRPr lang="en-US" altLang="ko-KR" sz="1500" dirty="0"/>
          </a:p>
          <a:p>
            <a:r>
              <a:rPr lang="en-US" altLang="ko-KR" sz="1500" b="1" dirty="0"/>
              <a:t>4) </a:t>
            </a:r>
            <a:r>
              <a:rPr lang="ko-KR" altLang="en-US" sz="1500" b="1" dirty="0"/>
              <a:t>재고 활용을 통한 원가 절감</a:t>
            </a:r>
            <a:endParaRPr lang="en-US" altLang="ko-KR" sz="1500" b="1" dirty="0"/>
          </a:p>
          <a:p>
            <a:r>
              <a:rPr lang="en-US" altLang="ko-KR" sz="1500" dirty="0"/>
              <a:t>-&gt;</a:t>
            </a:r>
            <a:r>
              <a:rPr lang="ko-KR" altLang="en-US" sz="1500" dirty="0"/>
              <a:t>미진</a:t>
            </a:r>
            <a:r>
              <a:rPr lang="en-US" altLang="ko-KR" sz="1500" dirty="0"/>
              <a:t>, </a:t>
            </a:r>
            <a:r>
              <a:rPr lang="ko-KR" altLang="en-US" sz="1500" dirty="0"/>
              <a:t>신규업체 견적요청 접수 시</a:t>
            </a:r>
            <a:r>
              <a:rPr lang="en-US" altLang="ko-KR" sz="1500" dirty="0"/>
              <a:t>, </a:t>
            </a:r>
            <a:r>
              <a:rPr lang="ko-KR" altLang="en-US" sz="1500" dirty="0"/>
              <a:t>기존 재고를 사용하여 생산비용 절감 및 </a:t>
            </a:r>
            <a:r>
              <a:rPr lang="ko-KR" altLang="en-US" sz="1500" dirty="0" err="1"/>
              <a:t>단납기</a:t>
            </a:r>
            <a:r>
              <a:rPr lang="ko-KR" altLang="en-US" sz="1500" dirty="0"/>
              <a:t> 경쟁력 강화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3133D2B-547D-595D-6B4F-3869BFE12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130573"/>
              </p:ext>
            </p:extLst>
          </p:nvPr>
        </p:nvGraphicFramePr>
        <p:xfrm>
          <a:off x="831363" y="2001186"/>
          <a:ext cx="1924537" cy="1509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537">
                  <a:extLst>
                    <a:ext uri="{9D8B030D-6E8A-4147-A177-3AD203B41FA5}">
                      <a16:colId xmlns:a16="http://schemas.microsoft.com/office/drawing/2014/main" val="1340934823"/>
                    </a:ext>
                  </a:extLst>
                </a:gridCol>
              </a:tblGrid>
              <a:tr h="4139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수주 및 매출목표 </a:t>
                      </a:r>
                      <a:r>
                        <a:rPr lang="en-US" altLang="ko-KR" sz="1400" b="1" dirty="0"/>
                        <a:t>(2025)</a:t>
                      </a:r>
                      <a:endParaRPr lang="ko-KR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392511"/>
                  </a:ext>
                </a:extLst>
              </a:tr>
              <a:tr h="991698">
                <a:tc>
                  <a:txBody>
                    <a:bodyPr/>
                    <a:lstStyle/>
                    <a:p>
                      <a:pPr marL="0" indent="0" algn="ctr" latinLnBrk="1">
                        <a:buFont typeface="+mj-ea"/>
                        <a:buNone/>
                      </a:pPr>
                      <a:endParaRPr lang="en-US" altLang="ko-KR" sz="1400" b="0" dirty="0"/>
                    </a:p>
                    <a:p>
                      <a:pPr marL="0" indent="0" algn="ctr" latinLnBrk="1">
                        <a:buFont typeface="+mj-ea"/>
                        <a:buNone/>
                      </a:pPr>
                      <a:r>
                        <a:rPr lang="ko-KR" altLang="en-US" sz="1400" b="0" dirty="0"/>
                        <a:t>수주 </a:t>
                      </a:r>
                      <a:r>
                        <a:rPr lang="en-US" altLang="ko-KR" sz="1400" b="0" dirty="0"/>
                        <a:t>: 15</a:t>
                      </a:r>
                      <a:r>
                        <a:rPr lang="ko-KR" altLang="en-US" sz="1400" b="0" dirty="0"/>
                        <a:t>억</a:t>
                      </a:r>
                      <a:endParaRPr lang="en-US" altLang="ko-KR" sz="1400" b="0" dirty="0"/>
                    </a:p>
                    <a:p>
                      <a:pPr marL="0" indent="0" algn="ctr" latinLnBrk="1">
                        <a:buFont typeface="+mj-ea"/>
                        <a:buNone/>
                      </a:pPr>
                      <a:r>
                        <a:rPr lang="ko-KR" altLang="en-US" sz="1400" b="0" dirty="0"/>
                        <a:t>매출 </a:t>
                      </a:r>
                      <a:r>
                        <a:rPr lang="en-US" altLang="ko-KR" sz="1400" b="0" dirty="0"/>
                        <a:t>: 15</a:t>
                      </a:r>
                      <a:r>
                        <a:rPr lang="ko-KR" altLang="en-US" sz="1400" b="0" dirty="0"/>
                        <a:t>억</a:t>
                      </a:r>
                      <a:endParaRPr lang="en-US" altLang="ko-KR" sz="1400" b="0" dirty="0"/>
                    </a:p>
                    <a:p>
                      <a:pPr algn="ctr" latinLnBrk="1"/>
                      <a:r>
                        <a:rPr lang="en-US" altLang="ko-KR" sz="1400" b="1" dirty="0"/>
                        <a:t> 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346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255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724</Words>
  <Application>Microsoft Office PowerPoint</Application>
  <PresentationFormat>와이드스크린</PresentationFormat>
  <Paragraphs>71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Helvetica</vt:lpstr>
      <vt:lpstr>Office ​​テーマ</vt:lpstr>
      <vt:lpstr>부산 영업부(윤남식) 2024년 활동 보고</vt:lpstr>
      <vt:lpstr>부산 영업부(윤남식) 2025년 활동 예정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Gunmin</dc:creator>
  <cp:lastModifiedBy>Yun, Namsik</cp:lastModifiedBy>
  <cp:revision>40</cp:revision>
  <dcterms:created xsi:type="dcterms:W3CDTF">2024-06-13T04:26:04Z</dcterms:created>
  <dcterms:modified xsi:type="dcterms:W3CDTF">2025-01-16T05:39:29Z</dcterms:modified>
</cp:coreProperties>
</file>