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521" r:id="rId2"/>
    <p:sldId id="520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3691" autoAdjust="0"/>
  </p:normalViewPr>
  <p:slideViewPr>
    <p:cSldViewPr snapToGrid="0">
      <p:cViewPr varScale="1">
        <p:scale>
          <a:sx n="82" d="100"/>
          <a:sy n="82" d="100"/>
        </p:scale>
        <p:origin x="171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65B37-8F9B-4CD7-B6C0-3A48D7DB7886}" type="datetimeFigureOut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4F3D96-1583-4140-87A6-3EAEC251B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017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F3D96-1583-4140-87A6-3EAEC251BB5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347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F3D96-1583-4140-87A6-3EAEC251BB5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091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4"/>
          <a:stretch>
            <a:fillRect/>
          </a:stretch>
        </p:blipFill>
        <p:spPr bwMode="auto">
          <a:xfrm>
            <a:off x="1" y="-27358"/>
            <a:ext cx="12192000" cy="6885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図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9731" y="334045"/>
            <a:ext cx="1345810" cy="270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テキスト ボックス 3"/>
          <p:cNvSpPr txBox="1">
            <a:spLocks noChangeArrowheads="1"/>
          </p:cNvSpPr>
          <p:nvPr userDrawn="1"/>
        </p:nvSpPr>
        <p:spPr bwMode="auto">
          <a:xfrm>
            <a:off x="8495657" y="6453402"/>
            <a:ext cx="2242922" cy="20403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726" dirty="0"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63225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75522" y="274640"/>
            <a:ext cx="8736970" cy="562074"/>
          </a:xfrm>
          <a:prstGeom prst="rect">
            <a:avLst/>
          </a:prstGeom>
        </p:spPr>
        <p:txBody>
          <a:bodyPr/>
          <a:lstStyle>
            <a:lvl1pPr algn="l">
              <a:defRPr sz="2177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09601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ja-JP" altLang="en-US" dirty="0"/>
              <a:t>｜</a:t>
            </a:r>
            <a:fld id="{719BCFF9-4352-4512-97A8-BE9F066818FD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35138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図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372" y="371483"/>
            <a:ext cx="1151168" cy="23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テキスト ボックス 5"/>
          <p:cNvSpPr txBox="1">
            <a:spLocks noChangeArrowheads="1"/>
          </p:cNvSpPr>
          <p:nvPr userDrawn="1"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5" y="4406904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3628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635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269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90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539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317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808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44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707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719249" y="6309417"/>
            <a:ext cx="2845481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4309929" y="6309417"/>
            <a:ext cx="3861324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881234" y="6309417"/>
            <a:ext cx="2845479" cy="3642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08E1D9-8381-478D-80C1-F6559A2BE36B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4030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図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372" y="371483"/>
            <a:ext cx="1151168" cy="23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テキスト ボックス 6"/>
          <p:cNvSpPr txBox="1">
            <a:spLocks noChangeArrowheads="1"/>
          </p:cNvSpPr>
          <p:nvPr userDrawn="1"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464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601" y="1600201"/>
            <a:ext cx="5384799" cy="4525963"/>
          </a:xfrm>
          <a:prstGeom prst="rect">
            <a:avLst/>
          </a:prstGeom>
        </p:spPr>
        <p:txBody>
          <a:bodyPr/>
          <a:lstStyle>
            <a:lvl1pPr>
              <a:defRPr sz="2539"/>
            </a:lvl1pPr>
            <a:lvl2pPr>
              <a:defRPr sz="2177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799" cy="4525963"/>
          </a:xfrm>
          <a:prstGeom prst="rect">
            <a:avLst/>
          </a:prstGeom>
        </p:spPr>
        <p:txBody>
          <a:bodyPr/>
          <a:lstStyle>
            <a:lvl1pPr>
              <a:defRPr sz="2539"/>
            </a:lvl1pPr>
            <a:lvl2pPr>
              <a:defRPr sz="2177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8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621002" y="6237425"/>
            <a:ext cx="2843625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9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4176460" y="6237425"/>
            <a:ext cx="3861324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10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8749620" y="6237425"/>
            <a:ext cx="2843625" cy="3642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46C599-E928-419E-9A90-6FA82B543A13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0980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図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372" y="371483"/>
            <a:ext cx="1151168" cy="23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4640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2" y="1535115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77" b="1"/>
            </a:lvl1pPr>
            <a:lvl2pPr marL="414635" indent="0">
              <a:buNone/>
              <a:defRPr sz="1814" b="1"/>
            </a:lvl2pPr>
            <a:lvl3pPr marL="829269" indent="0">
              <a:buNone/>
              <a:defRPr sz="1632" b="1"/>
            </a:lvl3pPr>
            <a:lvl4pPr marL="1243904" indent="0">
              <a:buNone/>
              <a:defRPr sz="1451" b="1"/>
            </a:lvl4pPr>
            <a:lvl5pPr marL="1658539" indent="0">
              <a:buNone/>
              <a:defRPr sz="1451" b="1"/>
            </a:lvl5pPr>
            <a:lvl6pPr marL="2073173" indent="0">
              <a:buNone/>
              <a:defRPr sz="1451" b="1"/>
            </a:lvl6pPr>
            <a:lvl7pPr marL="2487808" indent="0">
              <a:buNone/>
              <a:defRPr sz="1451" b="1"/>
            </a:lvl7pPr>
            <a:lvl8pPr marL="2902443" indent="0">
              <a:buNone/>
              <a:defRPr sz="1451" b="1"/>
            </a:lvl8pPr>
            <a:lvl9pPr marL="3317077" indent="0">
              <a:buNone/>
              <a:defRPr sz="1451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177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93371" y="1535115"/>
            <a:ext cx="538903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77" b="1"/>
            </a:lvl1pPr>
            <a:lvl2pPr marL="414635" indent="0">
              <a:buNone/>
              <a:defRPr sz="1814" b="1"/>
            </a:lvl2pPr>
            <a:lvl3pPr marL="829269" indent="0">
              <a:buNone/>
              <a:defRPr sz="1632" b="1"/>
            </a:lvl3pPr>
            <a:lvl4pPr marL="1243904" indent="0">
              <a:buNone/>
              <a:defRPr sz="1451" b="1"/>
            </a:lvl4pPr>
            <a:lvl5pPr marL="1658539" indent="0">
              <a:buNone/>
              <a:defRPr sz="1451" b="1"/>
            </a:lvl5pPr>
            <a:lvl6pPr marL="2073173" indent="0">
              <a:buNone/>
              <a:defRPr sz="1451" b="1"/>
            </a:lvl6pPr>
            <a:lvl7pPr marL="2487808" indent="0">
              <a:buNone/>
              <a:defRPr sz="1451" b="1"/>
            </a:lvl7pPr>
            <a:lvl8pPr marL="2902443" indent="0">
              <a:buNone/>
              <a:defRPr sz="1451" b="1"/>
            </a:lvl8pPr>
            <a:lvl9pPr marL="3317077" indent="0">
              <a:buNone/>
              <a:defRPr sz="1451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71" y="2174875"/>
            <a:ext cx="5389032" cy="3951288"/>
          </a:xfrm>
          <a:prstGeom prst="rect">
            <a:avLst/>
          </a:prstGeom>
        </p:spPr>
        <p:txBody>
          <a:bodyPr/>
          <a:lstStyle>
            <a:lvl1pPr>
              <a:defRPr sz="2177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" name="日付プレースホルダー 6"/>
          <p:cNvSpPr>
            <a:spLocks noGrp="1"/>
          </p:cNvSpPr>
          <p:nvPr>
            <p:ph type="dt" sz="half" idx="10"/>
          </p:nvPr>
        </p:nvSpPr>
        <p:spPr>
          <a:xfrm>
            <a:off x="621002" y="6309417"/>
            <a:ext cx="2843625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11" name="フッター プレースホルダー 7"/>
          <p:cNvSpPr>
            <a:spLocks noGrp="1"/>
          </p:cNvSpPr>
          <p:nvPr>
            <p:ph type="ftr" sz="quarter" idx="11"/>
          </p:nvPr>
        </p:nvSpPr>
        <p:spPr>
          <a:xfrm>
            <a:off x="4176460" y="6309417"/>
            <a:ext cx="3861324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12" name="スライド番号プレースホルダー 8"/>
          <p:cNvSpPr>
            <a:spLocks noGrp="1"/>
          </p:cNvSpPr>
          <p:nvPr>
            <p:ph type="sldNum" sz="quarter" idx="12"/>
          </p:nvPr>
        </p:nvSpPr>
        <p:spPr>
          <a:xfrm>
            <a:off x="8749620" y="6309417"/>
            <a:ext cx="2843625" cy="3642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074622-9B65-42A4-96EA-A68D9EDF5CF2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2186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図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372" y="371483"/>
            <a:ext cx="1151168" cy="23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テキスト ボックス 4"/>
          <p:cNvSpPr txBox="1">
            <a:spLocks noChangeArrowheads="1"/>
          </p:cNvSpPr>
          <p:nvPr userDrawn="1"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464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6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621002" y="6309417"/>
            <a:ext cx="2843625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7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4176460" y="6309417"/>
            <a:ext cx="3861324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8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8749620" y="6309417"/>
            <a:ext cx="2843625" cy="3642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88DF82-F845-4A06-8DF7-11E93ED6A297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0823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図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372" y="371483"/>
            <a:ext cx="1151168" cy="23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テキスト ボックス 3"/>
          <p:cNvSpPr txBox="1">
            <a:spLocks noChangeArrowheads="1"/>
          </p:cNvSpPr>
          <p:nvPr userDrawn="1"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  <p:sp>
        <p:nvSpPr>
          <p:cNvPr id="5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621002" y="6309417"/>
            <a:ext cx="2843625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6" name="フッター プレースホルダー 2"/>
          <p:cNvSpPr>
            <a:spLocks noGrp="1"/>
          </p:cNvSpPr>
          <p:nvPr>
            <p:ph type="ftr" sz="quarter" idx="11"/>
          </p:nvPr>
        </p:nvSpPr>
        <p:spPr>
          <a:xfrm>
            <a:off x="4176460" y="6309417"/>
            <a:ext cx="3861324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7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8749620" y="6309417"/>
            <a:ext cx="2843625" cy="3642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B5ADB4-1B0E-4175-A273-1E2E61D7B99E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844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図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372" y="371483"/>
            <a:ext cx="1151168" cy="23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テキスト ボックス 6"/>
          <p:cNvSpPr txBox="1">
            <a:spLocks noChangeArrowheads="1"/>
          </p:cNvSpPr>
          <p:nvPr userDrawn="1"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8" cy="5853113"/>
          </a:xfrm>
          <a:prstGeom prst="rect">
            <a:avLst/>
          </a:prstGeo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7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70"/>
            </a:lvl1pPr>
            <a:lvl2pPr marL="414635" indent="0">
              <a:buNone/>
              <a:defRPr sz="1088"/>
            </a:lvl2pPr>
            <a:lvl3pPr marL="829269" indent="0">
              <a:buNone/>
              <a:defRPr sz="907"/>
            </a:lvl3pPr>
            <a:lvl4pPr marL="1243904" indent="0">
              <a:buNone/>
              <a:defRPr sz="816"/>
            </a:lvl4pPr>
            <a:lvl5pPr marL="1658539" indent="0">
              <a:buNone/>
              <a:defRPr sz="816"/>
            </a:lvl5pPr>
            <a:lvl6pPr marL="2073173" indent="0">
              <a:buNone/>
              <a:defRPr sz="816"/>
            </a:lvl6pPr>
            <a:lvl7pPr marL="2487808" indent="0">
              <a:buNone/>
              <a:defRPr sz="816"/>
            </a:lvl7pPr>
            <a:lvl8pPr marL="2902443" indent="0">
              <a:buNone/>
              <a:defRPr sz="816"/>
            </a:lvl8pPr>
            <a:lvl9pPr marL="3317077" indent="0">
              <a:buNone/>
              <a:defRPr sz="816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715542" y="6309417"/>
            <a:ext cx="2845481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9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4272856" y="6309417"/>
            <a:ext cx="3859471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10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8844159" y="6309417"/>
            <a:ext cx="2845479" cy="3642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550A97-076F-4E06-8EDA-028BE0643266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38593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図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372" y="371483"/>
            <a:ext cx="1151168" cy="23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テキスト ボックス 6"/>
          <p:cNvSpPr txBox="1">
            <a:spLocks noChangeArrowheads="1"/>
          </p:cNvSpPr>
          <p:nvPr userDrawn="1"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02"/>
            </a:lvl1pPr>
            <a:lvl2pPr marL="414635" indent="0">
              <a:buNone/>
              <a:defRPr sz="2539"/>
            </a:lvl2pPr>
            <a:lvl3pPr marL="829269" indent="0">
              <a:buNone/>
              <a:defRPr sz="2177"/>
            </a:lvl3pPr>
            <a:lvl4pPr marL="1243904" indent="0">
              <a:buNone/>
              <a:defRPr sz="1814"/>
            </a:lvl4pPr>
            <a:lvl5pPr marL="1658539" indent="0">
              <a:buNone/>
              <a:defRPr sz="1814"/>
            </a:lvl5pPr>
            <a:lvl6pPr marL="2073173" indent="0">
              <a:buNone/>
              <a:defRPr sz="1814"/>
            </a:lvl6pPr>
            <a:lvl7pPr marL="2487808" indent="0">
              <a:buNone/>
              <a:defRPr sz="1814"/>
            </a:lvl7pPr>
            <a:lvl8pPr marL="2902443" indent="0">
              <a:buNone/>
              <a:defRPr sz="1814"/>
            </a:lvl8pPr>
            <a:lvl9pPr marL="3317077" indent="0">
              <a:buNone/>
              <a:defRPr sz="1814"/>
            </a:lvl9pPr>
          </a:lstStyle>
          <a:p>
            <a:pPr lvl="0"/>
            <a:endParaRPr lang="ja-JP" altLang="en-US" noProof="0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70"/>
            </a:lvl1pPr>
            <a:lvl2pPr marL="414635" indent="0">
              <a:buNone/>
              <a:defRPr sz="1088"/>
            </a:lvl2pPr>
            <a:lvl3pPr marL="829269" indent="0">
              <a:buNone/>
              <a:defRPr sz="907"/>
            </a:lvl3pPr>
            <a:lvl4pPr marL="1243904" indent="0">
              <a:buNone/>
              <a:defRPr sz="816"/>
            </a:lvl4pPr>
            <a:lvl5pPr marL="1658539" indent="0">
              <a:buNone/>
              <a:defRPr sz="816"/>
            </a:lvl5pPr>
            <a:lvl6pPr marL="2073173" indent="0">
              <a:buNone/>
              <a:defRPr sz="816"/>
            </a:lvl6pPr>
            <a:lvl7pPr marL="2487808" indent="0">
              <a:buNone/>
              <a:defRPr sz="816"/>
            </a:lvl7pPr>
            <a:lvl8pPr marL="2902443" indent="0">
              <a:buNone/>
              <a:defRPr sz="816"/>
            </a:lvl8pPr>
            <a:lvl9pPr marL="3317077" indent="0">
              <a:buNone/>
              <a:defRPr sz="816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522755" y="6309417"/>
            <a:ext cx="2843625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9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4078214" y="6309417"/>
            <a:ext cx="3861325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10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8649517" y="6309417"/>
            <a:ext cx="2845481" cy="3642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9E4EFF-D844-4788-9624-184C33DC21AC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47814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図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372" y="371483"/>
            <a:ext cx="1151168" cy="23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テキスト ボックス 5"/>
          <p:cNvSpPr txBox="1">
            <a:spLocks noChangeArrowheads="1"/>
          </p:cNvSpPr>
          <p:nvPr userDrawn="1"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464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09601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621002" y="6309417"/>
            <a:ext cx="2843625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4176460" y="6309417"/>
            <a:ext cx="3861324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749620" y="6309417"/>
            <a:ext cx="2843625" cy="3642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122B2F-CDF7-4133-8908-0F2449D44E0E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56503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図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372" y="371483"/>
            <a:ext cx="1151168" cy="23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テキスト ボックス 5"/>
          <p:cNvSpPr txBox="1">
            <a:spLocks noChangeArrowheads="1"/>
          </p:cNvSpPr>
          <p:nvPr userDrawn="1"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199" y="274640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399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522755" y="6309417"/>
            <a:ext cx="2843625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4078214" y="6309417"/>
            <a:ext cx="3861325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649517" y="6309417"/>
            <a:ext cx="2845481" cy="3642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9E1D57-9DF9-437F-868A-DAD6380A61FD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72981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ja-JP" altLang="en-US" dirty="0"/>
              <a:t>｜</a:t>
            </a:r>
            <a:fld id="{E038A514-1CF3-40F2-AC6C-EE32301A3475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2112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図 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0896243" y="6381409"/>
            <a:ext cx="863839" cy="31244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998">
                <a:solidFill>
                  <a:srgbClr val="7F7F7F"/>
                </a:solidFill>
                <a:ea typeface="ＭＳ Ｐゴシック" charset="-128"/>
              </a:defRPr>
            </a:lvl1pPr>
          </a:lstStyle>
          <a:p>
            <a:pPr>
              <a:defRPr/>
            </a:pPr>
            <a:r>
              <a:rPr lang="ja-JP" altLang="en-US" dirty="0"/>
              <a:t>｜</a:t>
            </a:r>
            <a:fld id="{4DE4EDE5-40CC-4EC5-80B5-98639E859A4F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  <p:pic>
        <p:nvPicPr>
          <p:cNvPr id="1028" name="図 2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913" y="476590"/>
            <a:ext cx="1343956" cy="270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テキスト ボックス 23"/>
          <p:cNvSpPr txBox="1">
            <a:spLocks noChangeArrowheads="1"/>
          </p:cNvSpPr>
          <p:nvPr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601834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99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99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99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99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99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14635" algn="ctr" rtl="0" fontAlgn="base">
        <a:spcBef>
          <a:spcPct val="0"/>
        </a:spcBef>
        <a:spcAft>
          <a:spcPct val="0"/>
        </a:spcAft>
        <a:defRPr kumimoji="1" sz="399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829269" algn="ctr" rtl="0" fontAlgn="base">
        <a:spcBef>
          <a:spcPct val="0"/>
        </a:spcBef>
        <a:spcAft>
          <a:spcPct val="0"/>
        </a:spcAft>
        <a:defRPr kumimoji="1" sz="399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243904" algn="ctr" rtl="0" fontAlgn="base">
        <a:spcBef>
          <a:spcPct val="0"/>
        </a:spcBef>
        <a:spcAft>
          <a:spcPct val="0"/>
        </a:spcAft>
        <a:defRPr kumimoji="1" sz="399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658539" algn="ctr" rtl="0" fontAlgn="base">
        <a:spcBef>
          <a:spcPct val="0"/>
        </a:spcBef>
        <a:spcAft>
          <a:spcPct val="0"/>
        </a:spcAft>
        <a:defRPr kumimoji="1" sz="399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10976" indent="-3109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81" indent="-259147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587" indent="-207317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177" kern="1200">
          <a:solidFill>
            <a:schemeClr val="tx1"/>
          </a:solidFill>
          <a:latin typeface="+mn-lt"/>
          <a:ea typeface="+mn-ea"/>
          <a:cs typeface="+mn-cs"/>
        </a:defRPr>
      </a:lvl3pPr>
      <a:lvl4pPr marL="1451221" indent="-207317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856" indent="-207317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491" indent="-207317" algn="l" defTabSz="829269" rtl="0" eaLnBrk="1" latinLnBrk="0" hangingPunct="1">
        <a:spcBef>
          <a:spcPct val="20000"/>
        </a:spcBef>
        <a:buFont typeface="Arial" pitchFamily="34" charset="0"/>
        <a:buChar char="•"/>
        <a:defRPr kumimoji="1"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5125" indent="-207317" algn="l" defTabSz="829269" rtl="0" eaLnBrk="1" latinLnBrk="0" hangingPunct="1">
        <a:spcBef>
          <a:spcPct val="20000"/>
        </a:spcBef>
        <a:buFont typeface="Arial" pitchFamily="34" charset="0"/>
        <a:buChar char="•"/>
        <a:defRPr kumimoji="1"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760" indent="-207317" algn="l" defTabSz="829269" rtl="0" eaLnBrk="1" latinLnBrk="0" hangingPunct="1">
        <a:spcBef>
          <a:spcPct val="20000"/>
        </a:spcBef>
        <a:buFont typeface="Arial" pitchFamily="34" charset="0"/>
        <a:buChar char="•"/>
        <a:defRPr kumimoji="1"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395" indent="-207317" algn="l" defTabSz="829269" rtl="0" eaLnBrk="1" latinLnBrk="0" hangingPunct="1">
        <a:spcBef>
          <a:spcPct val="20000"/>
        </a:spcBef>
        <a:buFont typeface="Arial" pitchFamily="34" charset="0"/>
        <a:buChar char="•"/>
        <a:defRPr kumimoji="1"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829269" rtl="0" eaLnBrk="1" latinLnBrk="0" hangingPunct="1">
        <a:defRPr kumimoji="1"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635" algn="l" defTabSz="829269" rtl="0" eaLnBrk="1" latinLnBrk="0" hangingPunct="1">
        <a:defRPr kumimoji="1"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269" algn="l" defTabSz="829269" rtl="0" eaLnBrk="1" latinLnBrk="0" hangingPunct="1">
        <a:defRPr kumimoji="1"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904" algn="l" defTabSz="829269" rtl="0" eaLnBrk="1" latinLnBrk="0" hangingPunct="1">
        <a:defRPr kumimoji="1"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539" algn="l" defTabSz="829269" rtl="0" eaLnBrk="1" latinLnBrk="0" hangingPunct="1">
        <a:defRPr kumimoji="1"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3173" algn="l" defTabSz="829269" rtl="0" eaLnBrk="1" latinLnBrk="0" hangingPunct="1">
        <a:defRPr kumimoji="1"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808" algn="l" defTabSz="829269" rtl="0" eaLnBrk="1" latinLnBrk="0" hangingPunct="1">
        <a:defRPr kumimoji="1"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443" algn="l" defTabSz="829269" rtl="0" eaLnBrk="1" latinLnBrk="0" hangingPunct="1">
        <a:defRPr kumimoji="1"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7077" algn="l" defTabSz="829269" rtl="0" eaLnBrk="1" latinLnBrk="0" hangingPunct="1">
        <a:defRPr kumimoji="1"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D4448-9777-FCFA-EDAF-CD181169B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4806"/>
            <a:ext cx="10972800" cy="1142941"/>
          </a:xfrm>
        </p:spPr>
        <p:txBody>
          <a:bodyPr>
            <a:normAutofit/>
          </a:bodyPr>
          <a:lstStyle/>
          <a:p>
            <a:r>
              <a:rPr lang="ko-KR" altLang="en-US" sz="36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부산 영업부</a:t>
            </a:r>
            <a:r>
              <a:rPr lang="en-US" altLang="ko-KR" sz="36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(</a:t>
            </a:r>
            <a:r>
              <a:rPr lang="ko-KR" altLang="en-US" sz="36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윤남식</a:t>
            </a:r>
            <a:r>
              <a:rPr lang="en-US" altLang="ko-KR" sz="36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)</a:t>
            </a:r>
            <a:r>
              <a:rPr lang="ko-KR" altLang="en-US" sz="36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 상반기 활동 보고</a:t>
            </a:r>
            <a:endParaRPr lang="ko-KR" altLang="en-US" dirty="0">
              <a:effectLst>
                <a:outerShdw blurRad="50800" dist="50800" dir="5400000" algn="ctr" rotWithShape="0">
                  <a:schemeClr val="accent3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11DF43-4B48-AD25-3C6C-5189A676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9620" y="6309267"/>
            <a:ext cx="2843625" cy="364263"/>
          </a:xfrm>
        </p:spPr>
        <p:txBody>
          <a:bodyPr wrap="square" anchor="t">
            <a:normAutofit/>
          </a:bodyPr>
          <a:lstStyle/>
          <a:p>
            <a:pPr defTabSz="829269" fontAlgn="base" latinLnBrk="0">
              <a:spcBef>
                <a:spcPct val="0"/>
              </a:spcBef>
              <a:spcAft>
                <a:spcPts val="544"/>
              </a:spcAft>
              <a:defRPr/>
            </a:pPr>
            <a:r>
              <a:rPr kumimoji="1" lang="ja-JP" altLang="en-US">
                <a:latin typeface="Calibri" pitchFamily="34" charset="0"/>
              </a:rPr>
              <a:t>｜</a:t>
            </a:r>
            <a:fld id="{719BCFF9-4352-4512-97A8-BE9F066818FD}" type="slidenum">
              <a:rPr kumimoji="1" lang="ja-JP" altLang="en-US">
                <a:latin typeface="Calibri" pitchFamily="34" charset="0"/>
              </a:rPr>
              <a:pPr defTabSz="829269" fontAlgn="base" latinLnBrk="0">
                <a:spcBef>
                  <a:spcPct val="0"/>
                </a:spcBef>
                <a:spcAft>
                  <a:spcPts val="544"/>
                </a:spcAft>
                <a:defRPr/>
              </a:pPr>
              <a:t>1</a:t>
            </a:fld>
            <a:endParaRPr kumimoji="1" lang="ja-JP" altLang="en-US">
              <a:latin typeface="Calibri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305772D-7CBC-6287-C8AF-3A77397B8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872277"/>
              </p:ext>
            </p:extLst>
          </p:nvPr>
        </p:nvGraphicFramePr>
        <p:xfrm>
          <a:off x="6159887" y="1417746"/>
          <a:ext cx="54225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983">
                  <a:extLst>
                    <a:ext uri="{9D8B030D-6E8A-4147-A177-3AD203B41FA5}">
                      <a16:colId xmlns:a16="http://schemas.microsoft.com/office/drawing/2014/main" val="451438734"/>
                    </a:ext>
                  </a:extLst>
                </a:gridCol>
                <a:gridCol w="1895012">
                  <a:extLst>
                    <a:ext uri="{9D8B030D-6E8A-4147-A177-3AD203B41FA5}">
                      <a16:colId xmlns:a16="http://schemas.microsoft.com/office/drawing/2014/main" val="433686934"/>
                    </a:ext>
                  </a:extLst>
                </a:gridCol>
                <a:gridCol w="2449517">
                  <a:extLst>
                    <a:ext uri="{9D8B030D-6E8A-4147-A177-3AD203B41FA5}">
                      <a16:colId xmlns:a16="http://schemas.microsoft.com/office/drawing/2014/main" val="3263075305"/>
                    </a:ext>
                  </a:extLst>
                </a:gridCol>
              </a:tblGrid>
              <a:tr h="13442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  업체명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수주활동현황</a:t>
                      </a:r>
                      <a:endParaRPr lang="en-US" altLang="ko-K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043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금화정수 </a:t>
                      </a:r>
                      <a:endParaRPr lang="en-US" altLang="ko-K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SHAHEEN PJ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경쟁업체와 금액 </a:t>
                      </a:r>
                      <a:r>
                        <a:rPr lang="en-US" altLang="ko-KR" sz="1800" dirty="0"/>
                        <a:t>30% </a:t>
                      </a:r>
                      <a:r>
                        <a:rPr lang="ko-KR" altLang="en-US" sz="1800" dirty="0"/>
                        <a:t>차이 수주실패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730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SAMSUNG 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WHRP PJ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경쟁업체와 금액 </a:t>
                      </a:r>
                      <a:r>
                        <a:rPr lang="en-US" altLang="ko-KR" sz="1800" dirty="0"/>
                        <a:t>50% </a:t>
                      </a:r>
                      <a:r>
                        <a:rPr lang="ko-KR" altLang="en-US" sz="1800" dirty="0"/>
                        <a:t>차이 수주실패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972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HP VALVES 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BELLE RIVER PJ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경쟁업체 대비 금액이 높아 수주실패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297786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643E651-4CFD-3488-0029-D0E76AF4E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849450"/>
              </p:ext>
            </p:extLst>
          </p:nvPr>
        </p:nvGraphicFramePr>
        <p:xfrm>
          <a:off x="6174221" y="4056183"/>
          <a:ext cx="4810302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0302">
                  <a:extLst>
                    <a:ext uri="{9D8B030D-6E8A-4147-A177-3AD203B41FA5}">
                      <a16:colId xmlns:a16="http://schemas.microsoft.com/office/drawing/2014/main" val="3178211823"/>
                    </a:ext>
                  </a:extLst>
                </a:gridCol>
              </a:tblGrid>
              <a:tr h="2657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 dirty="0"/>
                        <a:t>미흡했던 부분 및 개선해야 될 부분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254370"/>
                  </a:ext>
                </a:extLst>
              </a:tr>
              <a:tr h="353839">
                <a:tc>
                  <a:txBody>
                    <a:bodyPr/>
                    <a:lstStyle/>
                    <a:p>
                      <a:pPr marL="342900" indent="-342900" algn="l" latinLnBrk="1">
                        <a:buFont typeface="+mj-ea"/>
                        <a:buAutoNum type="circleNumDbPlain"/>
                      </a:pPr>
                      <a:r>
                        <a:rPr lang="ko-KR" altLang="en-US" sz="1800" b="0" dirty="0"/>
                        <a:t>적극적인 영업 및 모니터링</a:t>
                      </a:r>
                      <a:endParaRPr lang="en-US" altLang="ko-KR" sz="1800" b="0" dirty="0"/>
                    </a:p>
                    <a:p>
                      <a:pPr marL="342900" indent="-342900" algn="l" latinLnBrk="1">
                        <a:buFont typeface="+mj-ea"/>
                        <a:buAutoNum type="circleNumDbPlain"/>
                      </a:pPr>
                      <a:r>
                        <a:rPr lang="ko-KR" altLang="en-US" sz="1800" b="0" dirty="0"/>
                        <a:t>금액적인 이슈</a:t>
                      </a:r>
                      <a:endParaRPr lang="en-US" altLang="ko-KR" sz="1800" b="0" dirty="0"/>
                    </a:p>
                    <a:p>
                      <a:pPr algn="ctr" latinLnBrk="1"/>
                      <a:r>
                        <a:rPr lang="en-US" altLang="ko-KR" sz="1800" b="1" dirty="0"/>
                        <a:t> </a:t>
                      </a:r>
                      <a:endParaRPr lang="ko-KR" altLang="en-US" sz="1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154764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6E6A9CB4-6129-54E4-F8DF-043E27224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92" y="1910115"/>
            <a:ext cx="5255969" cy="341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77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D4448-9777-FCFA-EDAF-CD181169B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4806"/>
            <a:ext cx="10972800" cy="1142941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부산 영업부</a:t>
            </a:r>
            <a:r>
              <a:rPr lang="en-US" altLang="ko-KR" sz="40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(</a:t>
            </a:r>
            <a:r>
              <a:rPr lang="ko-KR" altLang="en-US" sz="40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윤남식</a:t>
            </a:r>
            <a:r>
              <a:rPr lang="en-US" altLang="ko-KR" sz="40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)</a:t>
            </a:r>
            <a:r>
              <a:rPr lang="ko-KR" altLang="en-US" sz="40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 하반기 활동 예정</a:t>
            </a:r>
            <a:endParaRPr lang="ko-KR" altLang="en-US" dirty="0">
              <a:effectLst>
                <a:outerShdw blurRad="50800" dist="50800" dir="5400000" algn="ctr" rotWithShape="0">
                  <a:schemeClr val="accent3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11DF43-4B48-AD25-3C6C-5189A676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9620" y="6309267"/>
            <a:ext cx="2843625" cy="364263"/>
          </a:xfrm>
        </p:spPr>
        <p:txBody>
          <a:bodyPr wrap="square" anchor="t">
            <a:normAutofit/>
          </a:bodyPr>
          <a:lstStyle/>
          <a:p>
            <a:pPr defTabSz="829269" fontAlgn="base" latinLnBrk="0">
              <a:spcBef>
                <a:spcPct val="0"/>
              </a:spcBef>
              <a:spcAft>
                <a:spcPts val="544"/>
              </a:spcAft>
              <a:defRPr/>
            </a:pPr>
            <a:r>
              <a:rPr kumimoji="1" lang="ja-JP" altLang="en-US">
                <a:latin typeface="Calibri" pitchFamily="34" charset="0"/>
              </a:rPr>
              <a:t>｜</a:t>
            </a:r>
            <a:fld id="{719BCFF9-4352-4512-97A8-BE9F066818FD}" type="slidenum">
              <a:rPr kumimoji="1" lang="ja-JP" altLang="en-US">
                <a:latin typeface="Calibri" pitchFamily="34" charset="0"/>
              </a:rPr>
              <a:pPr defTabSz="829269" fontAlgn="base" latinLnBrk="0">
                <a:spcBef>
                  <a:spcPct val="0"/>
                </a:spcBef>
                <a:spcAft>
                  <a:spcPts val="544"/>
                </a:spcAft>
                <a:defRPr/>
              </a:pPr>
              <a:t>2</a:t>
            </a:fld>
            <a:endParaRPr kumimoji="1" lang="ja-JP" altLang="en-US">
              <a:latin typeface="Calibri" pitchFamily="34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643E651-4CFD-3488-0029-D0E76AF4E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356591"/>
              </p:ext>
            </p:extLst>
          </p:nvPr>
        </p:nvGraphicFramePr>
        <p:xfrm>
          <a:off x="1028018" y="1349587"/>
          <a:ext cx="10319919" cy="3072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640">
                  <a:extLst>
                    <a:ext uri="{9D8B030D-6E8A-4147-A177-3AD203B41FA5}">
                      <a16:colId xmlns:a16="http://schemas.microsoft.com/office/drawing/2014/main" val="3178211823"/>
                    </a:ext>
                  </a:extLst>
                </a:gridCol>
                <a:gridCol w="7968279">
                  <a:extLst>
                    <a:ext uri="{9D8B030D-6E8A-4147-A177-3AD203B41FA5}">
                      <a16:colId xmlns:a16="http://schemas.microsoft.com/office/drawing/2014/main" val="3356555557"/>
                    </a:ext>
                  </a:extLst>
                </a:gridCol>
              </a:tblGrid>
              <a:tr h="1966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업체명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                                   진행 </a:t>
                      </a:r>
                      <a:r>
                        <a:rPr lang="en-US" altLang="ko-KR" sz="1800" dirty="0"/>
                        <a:t>PJ</a:t>
                      </a:r>
                      <a:r>
                        <a:rPr lang="ko-KR" altLang="en-US" sz="1800" dirty="0"/>
                        <a:t> 및 활동계획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254370"/>
                  </a:ext>
                </a:extLst>
              </a:tr>
              <a:tr h="708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SK</a:t>
                      </a:r>
                      <a:r>
                        <a:rPr lang="ko-KR" altLang="en-US" sz="1800" dirty="0"/>
                        <a:t>에코엔지니어링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 latinLnBrk="1">
                        <a:buFont typeface="+mj-ea"/>
                        <a:buAutoNum type="circleNumDbPlain"/>
                      </a:pPr>
                      <a:r>
                        <a:rPr lang="en-US" altLang="ko-KR" sz="1800" dirty="0"/>
                        <a:t>CEC PJ 2</a:t>
                      </a:r>
                      <a:r>
                        <a:rPr lang="ko-KR" altLang="en-US" sz="1800" dirty="0"/>
                        <a:t>단계 </a:t>
                      </a:r>
                      <a:r>
                        <a:rPr lang="en-US" altLang="ko-KR" sz="1800" dirty="0"/>
                        <a:t>- </a:t>
                      </a:r>
                      <a:r>
                        <a:rPr lang="ko-KR" altLang="en-US" sz="1800" dirty="0"/>
                        <a:t>당사에서 납품한 실적이 많아 당사에 대해 우호적인 입장</a:t>
                      </a:r>
                      <a:endParaRPr lang="en-US" altLang="ko-K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411205"/>
                  </a:ext>
                </a:extLst>
              </a:tr>
              <a:tr h="4442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HEC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 latinLnBrk="1">
                        <a:buFont typeface="+mj-ea"/>
                        <a:buAutoNum type="circleNumDbPlain"/>
                      </a:pPr>
                      <a:r>
                        <a:rPr lang="en-US" altLang="ko-KR" sz="1800" dirty="0"/>
                        <a:t>RDMP PJ </a:t>
                      </a:r>
                      <a:r>
                        <a:rPr lang="ko-KR" altLang="en-US" sz="1800" dirty="0"/>
                        <a:t>추가분 </a:t>
                      </a:r>
                      <a:r>
                        <a:rPr lang="en-US" altLang="ko-KR" sz="1800" dirty="0"/>
                        <a:t>– </a:t>
                      </a:r>
                      <a:r>
                        <a:rPr lang="ko-KR" altLang="en-US" sz="1800" dirty="0" err="1"/>
                        <a:t>홀딩중이지만</a:t>
                      </a:r>
                      <a:r>
                        <a:rPr lang="ko-KR" altLang="en-US" sz="1800" dirty="0"/>
                        <a:t> 지속적으로 연락하여 모니터링</a:t>
                      </a:r>
                      <a:endParaRPr lang="en-US" altLang="ko-KR" sz="1800" dirty="0"/>
                    </a:p>
                    <a:p>
                      <a:pPr marL="342900" indent="-342900" algn="l" latinLnBrk="1">
                        <a:buFont typeface="+mj-ea"/>
                        <a:buAutoNum type="circleNumDbPlain"/>
                      </a:pPr>
                      <a:r>
                        <a:rPr lang="ko-KR" altLang="en-US" sz="1800" dirty="0"/>
                        <a:t>삼천포 천연가스 </a:t>
                      </a:r>
                      <a:r>
                        <a:rPr lang="en-US" altLang="ko-KR" sz="1800" dirty="0"/>
                        <a:t>PJ – </a:t>
                      </a:r>
                      <a:r>
                        <a:rPr lang="ko-KR" altLang="en-US" sz="1800" dirty="0"/>
                        <a:t>빠르면 올해 말 실행 </a:t>
                      </a:r>
                      <a:r>
                        <a:rPr lang="en-US" altLang="ko-KR" sz="1800" dirty="0"/>
                        <a:t>RFQ </a:t>
                      </a:r>
                      <a:r>
                        <a:rPr lang="ko-KR" altLang="en-US" sz="1800" dirty="0"/>
                        <a:t>이슈예정</a:t>
                      </a:r>
                      <a:endParaRPr lang="en-US" altLang="ko-KR" sz="1800" dirty="0"/>
                    </a:p>
                    <a:p>
                      <a:pPr marL="342900" indent="-342900" algn="l" latinLnBrk="1">
                        <a:buFont typeface="+mj-ea"/>
                        <a:buAutoNum type="circleNumDbPlain"/>
                      </a:pPr>
                      <a:r>
                        <a:rPr lang="en-US" altLang="ko-KR" sz="1800" dirty="0"/>
                        <a:t>WIP PJ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6154764"/>
                  </a:ext>
                </a:extLst>
              </a:tr>
              <a:tr h="4442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SC&amp;T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latinLnBrk="1">
                        <a:buFont typeface="+mj-ea"/>
                        <a:buAutoNum type="circleNumDbPlain"/>
                      </a:pPr>
                      <a:r>
                        <a:rPr lang="en-US" altLang="ko-KR" sz="1800" dirty="0"/>
                        <a:t>FACILITY E – </a:t>
                      </a:r>
                      <a:r>
                        <a:rPr lang="ko-KR" altLang="en-US" sz="1800" dirty="0"/>
                        <a:t>하반기 실행단계 진행예정으로 지속적인 소통을 통하여 </a:t>
                      </a:r>
                      <a:endParaRPr lang="en-US" altLang="ko-KR" sz="1800" dirty="0"/>
                    </a:p>
                    <a:p>
                      <a:pPr marL="0" indent="0" latinLnBrk="1">
                        <a:buFont typeface="+mj-ea"/>
                        <a:buNone/>
                      </a:pPr>
                      <a:r>
                        <a:rPr lang="en-US" altLang="ko-KR" sz="1800" dirty="0"/>
                        <a:t>                             </a:t>
                      </a:r>
                      <a:r>
                        <a:rPr lang="ko-KR" altLang="en-US" sz="1800" dirty="0"/>
                        <a:t>정보획득 및 영업활동</a:t>
                      </a:r>
                      <a:endParaRPr lang="en-US" altLang="ko-K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144154"/>
                  </a:ext>
                </a:extLst>
              </a:tr>
              <a:tr h="4442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HP VALVES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latinLnBrk="1">
                        <a:buFont typeface="+mj-ea"/>
                        <a:buAutoNum type="circleNumDbPlain"/>
                      </a:pPr>
                      <a:r>
                        <a:rPr lang="pl-PL" altLang="ko-KR" sz="1800" dirty="0"/>
                        <a:t>Rutenberg Project</a:t>
                      </a:r>
                      <a:r>
                        <a:rPr lang="en-US" altLang="ko-KR" sz="1800" dirty="0"/>
                        <a:t> – </a:t>
                      </a:r>
                      <a:r>
                        <a:rPr lang="ko-KR" altLang="en-US" sz="1800" dirty="0"/>
                        <a:t>담당자와 지속적으로 소통하며 모니터링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13412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11A93CE-9933-DB06-E630-68CECD6813FF}"/>
              </a:ext>
            </a:extLst>
          </p:cNvPr>
          <p:cNvSpPr txBox="1"/>
          <p:nvPr/>
        </p:nvSpPr>
        <p:spPr>
          <a:xfrm>
            <a:off x="1207477" y="4642338"/>
            <a:ext cx="9190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중량</a:t>
            </a:r>
            <a:r>
              <a:rPr lang="en-US" altLang="ko-KR" dirty="0"/>
              <a:t>, </a:t>
            </a:r>
            <a:r>
              <a:rPr lang="ko-KR" altLang="en-US" dirty="0"/>
              <a:t>원가 등 타 부서와 협조하여 </a:t>
            </a:r>
            <a:r>
              <a:rPr lang="ko-KR" altLang="en-US" dirty="0" err="1"/>
              <a:t>예량견적에도</a:t>
            </a:r>
            <a:r>
              <a:rPr lang="ko-KR" altLang="en-US" dirty="0"/>
              <a:t> 최적의 금액으로 입찰예정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각 거래처 담당자와 지속적으로 소통하여 정보수집 및 영업활동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가능성이 없는 오더의 경우 과감히 포기하여 수주가능성이 있는 오더에 집중예정</a:t>
            </a:r>
          </a:p>
        </p:txBody>
      </p:sp>
    </p:spTree>
    <p:extLst>
      <p:ext uri="{BB962C8B-B14F-4D97-AF65-F5344CB8AC3E}">
        <p14:creationId xmlns:p14="http://schemas.microsoft.com/office/powerpoint/2010/main" val="4243255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165</Words>
  <Application>Microsoft Office PowerPoint</Application>
  <PresentationFormat>와이드스크린</PresentationFormat>
  <Paragraphs>40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Helvetica</vt:lpstr>
      <vt:lpstr>Office ​​テーマ</vt:lpstr>
      <vt:lpstr>부산 영업부(윤남식) 상반기 활동 보고</vt:lpstr>
      <vt:lpstr>부산 영업부(윤남식) 하반기 활동 예정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Lee, Gunmin</dc:creator>
  <cp:lastModifiedBy>Yun, Namsik</cp:lastModifiedBy>
  <cp:revision>11</cp:revision>
  <dcterms:created xsi:type="dcterms:W3CDTF">2024-06-13T04:26:04Z</dcterms:created>
  <dcterms:modified xsi:type="dcterms:W3CDTF">2024-07-15T00:20:29Z</dcterms:modified>
</cp:coreProperties>
</file>